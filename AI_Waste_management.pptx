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26567" y="854988"/>
            <a:ext cx="11322413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600" b="1" dirty="0">
                <a:solidFill>
                  <a:srgbClr val="188448"/>
                </a:solidFill>
              </a:rPr>
              <a:t>Municipal Waste Management Assistant</a:t>
            </a:r>
            <a:endParaRPr sz="4600" b="1" dirty="0">
              <a:solidFill>
                <a:srgbClr val="188448"/>
              </a:solidFill>
            </a:endParaRPr>
          </a:p>
          <a:p>
            <a:r>
              <a:rPr sz="2400" b="1" dirty="0">
                <a:solidFill>
                  <a:srgbClr val="18372D"/>
                </a:solidFill>
              </a:rPr>
              <a:t>AI-Based Waste Segregation Assistant</a:t>
            </a:r>
          </a:p>
          <a:p>
            <a:r>
              <a:rPr sz="1600" dirty="0">
                <a:solidFill>
                  <a:srgbClr val="5A6962"/>
                </a:solidFill>
              </a:rPr>
              <a:t>1M1B AI for Sustainability Virtual Internship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4890" y="2712719"/>
            <a:ext cx="5669280" cy="2262403"/>
          </a:xfrm>
          <a:prstGeom prst="roundRect">
            <a:avLst/>
          </a:prstGeom>
          <a:solidFill>
            <a:srgbClr val="FFFF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Project Details</a:t>
            </a:r>
            <a:endParaRPr lang="en-US" sz="1700" b="1" dirty="0">
              <a:solidFill>
                <a:srgbClr val="188448"/>
              </a:solidFill>
            </a:endParaRPr>
          </a:p>
          <a:p>
            <a:pPr algn="ctr"/>
            <a:endParaRPr sz="1700" b="1" dirty="0">
              <a:solidFill>
                <a:srgbClr val="188448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Your Name</a:t>
            </a:r>
            <a:r>
              <a:rPr lang="en-US" dirty="0"/>
              <a:t>: Mohit De</a:t>
            </a: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College Name • </a:t>
            </a:r>
            <a:r>
              <a:rPr lang="en-US" dirty="0"/>
              <a:t>Institute of Engineering &amp; Management 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lang="en-US" dirty="0"/>
              <a:t>Stream: ECE, </a:t>
            </a:r>
            <a:r>
              <a:rPr lang="en-US" dirty="0" err="1"/>
              <a:t>B.Tech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866FB0-CF26-F5AF-C4CB-22AFC9FED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897" y="1715237"/>
            <a:ext cx="5711053" cy="44397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Why waste segregation needs a simple AI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40080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Problem Statement</a:t>
            </a:r>
            <a:endParaRPr lang="en-US" sz="1700" b="1" dirty="0">
              <a:solidFill>
                <a:srgbClr val="188448"/>
              </a:solidFill>
            </a:endParaRPr>
          </a:p>
          <a:p>
            <a:pPr algn="ctr"/>
            <a:endParaRPr sz="1700" b="1" dirty="0">
              <a:solidFill>
                <a:srgbClr val="188448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“How might we use AI to identify and classify everyday waste so that waste disposal and recycling can become more sustainable?”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337560"/>
            <a:ext cx="6400800" cy="2011680"/>
          </a:xfrm>
          <a:prstGeom prst="roundRect">
            <a:avLst/>
          </a:prstGeom>
          <a:solidFill>
            <a:srgbClr val="FFF8E6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EBA02D"/>
                </a:solidFill>
              </a:rPr>
              <a:t>The Problem</a:t>
            </a:r>
            <a:endParaRPr lang="en-US" sz="1700" b="1" dirty="0">
              <a:solidFill>
                <a:srgbClr val="EBA02D"/>
              </a:solidFill>
            </a:endParaRPr>
          </a:p>
          <a:p>
            <a:pPr algn="ctr"/>
            <a:endParaRPr sz="1700" b="1" dirty="0">
              <a:solidFill>
                <a:srgbClr val="EBA02D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People may be unsure which bin an item belongs to.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Incorrect segregation can contaminate recyclable material.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Disposal rules can be confusing for everyday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34440"/>
            <a:ext cx="4160520" cy="4114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People Affected</a:t>
            </a:r>
            <a:endParaRPr lang="en-US" sz="1700" b="1" dirty="0">
              <a:solidFill>
                <a:srgbClr val="188448"/>
              </a:solidFill>
            </a:endParaRPr>
          </a:p>
          <a:p>
            <a:pPr algn="ctr"/>
            <a:endParaRPr sz="1700" b="1" dirty="0">
              <a:solidFill>
                <a:srgbClr val="188448"/>
              </a:solidFill>
            </a:endParaRP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Students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Households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Schools and colleges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Offices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Local communities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• Waste-management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3. SDG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Primary sustainability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493776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SDG 12 — Responsible Consumption and Production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EcoSort AI supports responsible waste handling by helping users make better segregation decisions.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Project contribution: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Responsible waste disposal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Better waste segregation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Recycling awareness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Sustainable consumption habits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80" y="1234440"/>
            <a:ext cx="5394960" cy="1828800"/>
          </a:xfrm>
          <a:prstGeom prst="roundRect">
            <a:avLst/>
          </a:prstGeom>
          <a:solidFill>
            <a:srgbClr val="F4F8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Secondary connection — SDG 11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Sustainable Cities and Communities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The concept can support cleaner communities through better waste awareness.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3337560"/>
            <a:ext cx="5394960" cy="219456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Why this matters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Waste segregation is an everyday action. A simple AI assistant can turn a confusing disposal decision into a clear, explainable recommendation.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4.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31835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1400" b="1" dirty="0">
                <a:solidFill>
                  <a:srgbClr val="188448"/>
                </a:solidFill>
              </a:rPr>
              <a:t>Municipal Waste Management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4429924" cy="2331228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What the assistant does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1. Accepts a waste item as text.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2. Identifies the item.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3. Classifies the waste.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4. Suggests an appropriate disposal category.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5. Gives a short environmental tip.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4490" y="1148408"/>
            <a:ext cx="5167343" cy="2331228"/>
          </a:xfrm>
          <a:prstGeom prst="roundRect">
            <a:avLst/>
          </a:prstGeom>
          <a:solidFill>
            <a:srgbClr val="F7FCF8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Example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User: “Banana peel”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AI classification: Organic / Wet Waste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Recommendation: Compost or use the local organic-waste collection.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Tip: Organic waste can potentially be composted.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Note: Users should follow local waste-management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7F8841-4081-7984-DBD2-F078C11C7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93" y="3549154"/>
            <a:ext cx="4947165" cy="2924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EC8EF4-A4F9-ED7A-15B5-71B876D2E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490" y="3519948"/>
            <a:ext cx="5167343" cy="3092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5. How AI 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Simple AI workflow — no complex model training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INPUT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Waste item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2194559"/>
            <a:ext cx="502920" cy="411480"/>
          </a:xfrm>
          <a:prstGeom prst="right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900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AI ANALYSIS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Understands item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2148840"/>
            <a:ext cx="502920" cy="411480"/>
          </a:xfrm>
          <a:prstGeom prst="right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CLASSIFICATION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Categorizes waste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95359" y="2148840"/>
            <a:ext cx="502920" cy="411480"/>
          </a:xfrm>
          <a:prstGeom prst="right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98280" y="1600200"/>
            <a:ext cx="2331720" cy="182880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RECOMMENDATION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Suggests disposal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39"/>
            <a:ext cx="10332720" cy="1234440"/>
          </a:xfrm>
          <a:prstGeom prst="roundRect">
            <a:avLst/>
          </a:prstGeom>
          <a:solidFill>
            <a:srgbClr val="F4F9F5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AI functions demonstrated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Classification • Pattern recognition • Information retrieval • Decision support • Conversational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6.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End-to-end prototype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23444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1. User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Enter </a:t>
            </a:r>
            <a:r>
              <a:rPr lang="en-US" dirty="0"/>
              <a:t>the </a:t>
            </a:r>
            <a:r>
              <a:rPr dirty="0"/>
              <a:t>item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15000" y="1947672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0" y="219456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2. Waste Item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Text 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15000" y="2907791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0" y="315468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3. AI Analysis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Identify and understand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15000" y="3867912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0" y="411480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4. Classification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Organic / Recyclable / General / Hazardous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15000" y="4828032"/>
            <a:ext cx="594360" cy="246888"/>
          </a:xfrm>
          <a:prstGeom prst="downArrow">
            <a:avLst/>
          </a:prstGeom>
          <a:solidFill>
            <a:srgbClr val="18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5074920"/>
            <a:ext cx="4846320" cy="713232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5. Recommendation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Disposal category + tip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645920"/>
            <a:ext cx="2331720" cy="3200400"/>
          </a:xfrm>
          <a:prstGeom prst="roundRect">
            <a:avLst/>
          </a:prstGeom>
          <a:solidFill>
            <a:srgbClr val="F4F8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AI Process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The AI sits across the analysis and classification stages, then produces an explainable recommendation.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645920"/>
            <a:ext cx="2331720" cy="3200400"/>
          </a:xfrm>
          <a:prstGeom prst="roundRect">
            <a:avLst/>
          </a:prstGeom>
          <a:solidFill>
            <a:srgbClr val="F7FCF8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Output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Clear category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+ disposal guidance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+ environmental 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8372D"/>
                </a:solidFill>
              </a:rPr>
              <a:t>7. Prototype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Sample AI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49240" cy="2393663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Example 1 — Banana Peel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User input: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Banana peel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AI output: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Category: Organic / Wet Waste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Recommended disposal: Compost or organic-waste collection.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Environmental tip: Organic waste can potentially be composted.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34000" cy="2393663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 dirty="0">
                <a:solidFill>
                  <a:srgbClr val="188448"/>
                </a:solidFill>
              </a:rPr>
              <a:t>Example 2 — Used Newspaper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User input: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Used newspaper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AI output: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Category: Recyclable / Dry Waste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Recommended disposal: Place with recyclable/dry waste.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rPr dirty="0"/>
              <a:t>Environmental tip: Recycling paper can reduce the need for new paper materials.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1816A5-AA17-4041-AE58-E922B4B25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46" y="3737503"/>
            <a:ext cx="5334001" cy="29524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4C4F6E-72E4-C005-FCFF-F4B4CF8B4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599" y="3574796"/>
            <a:ext cx="5334001" cy="29524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8.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Sample test cases for the prototype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79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Waste Item</a:t>
                      </a:r>
                    </a:p>
                  </a:txBody>
                  <a:tcPr>
                    <a:solidFill>
                      <a:srgbClr val="188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AI Classification</a:t>
                      </a:r>
                    </a:p>
                  </a:txBody>
                  <a:tcPr>
                    <a:solidFill>
                      <a:srgbClr val="188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Category</a:t>
                      </a:r>
                    </a:p>
                  </a:txBody>
                  <a:tcPr>
                    <a:solidFill>
                      <a:srgbClr val="1884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Banana peel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Organic / Wet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Compost / organic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Used newspaper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Plastic bottle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Dry*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rPr dirty="0"/>
                        <a:t>Cardboard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Vegetable peels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Organic / Wet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Compost / organic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Glass bottle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Used tissue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General / Non-recyclable*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General waste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Aluminium 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Recyclable / Dry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Dry / recyclable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Food leftovers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Organic / Wet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Compost / organic</a:t>
                      </a:r>
                    </a:p>
                  </a:txBody>
                  <a:tcPr>
                    <a:solidFill>
                      <a:srgbClr val="EF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Used battery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t>Hazardous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8372D"/>
                          </a:solidFill>
                        </a:defRPr>
                      </a:pPr>
                      <a:r>
                        <a:rPr dirty="0"/>
                        <a:t>Hazardous-waste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3620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6962"/>
                </a:solidFill>
              </a:rPr>
              <a:t>*Disposal categories may vary by location. Always follow local waste-management guidelines.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9.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Four principles considered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FAIRNESS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Use diverse waste examples.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Avoid biased assumptions about people or locations.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TRANSPARENCY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Clearly explain the classification and recommendation where 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704EAA"/>
                </a:solidFill>
              </a:rPr>
              <a:t>ETHICS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Avoid unsafe or misleading disposal instructions.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Do not encourage harmful practices.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371600"/>
            <a:ext cx="2560320" cy="429768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EBA02D"/>
                </a:solidFill>
              </a:rPr>
              <a:t>PRIVACY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Do not collect unnecessary personal information such as names, addresses or photos of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372D"/>
                </a:solidFill>
              </a:rPr>
              <a:t>10. Expected 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962"/>
                </a:solidFill>
              </a:rPr>
              <a:t>From a simple prototype to a practical sustainability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4480560"/>
          </a:xfrm>
          <a:prstGeom prst="roundRect">
            <a:avLst/>
          </a:prstGeom>
          <a:solidFill>
            <a:srgbClr val="EFF9F1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188448"/>
                </a:solidFill>
              </a:rPr>
              <a:t>Expected Impact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Environmental: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Better waste segregation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Increased recycling potential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Reduced contamination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More awareness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Social: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Easy guidance for students and households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Improved environmental awareness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Economic: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Potentially better recycling efficiency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Better separation of recyclable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349240" cy="4480560"/>
          </a:xfrm>
          <a:prstGeom prst="roundRect">
            <a:avLst/>
          </a:prstGeom>
          <a:solidFill>
            <a:srgbClr val="F4F8FF"/>
          </a:solidFill>
          <a:ln>
            <a:solidFill>
              <a:srgbClr val="D9F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700" b="1">
                <a:solidFill>
                  <a:srgbClr val="307DBE"/>
                </a:solidFill>
              </a:rPr>
              <a:t>Future Scope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Mobile application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Image-based waste recognition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Local-language assistant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Integration with local waste-management rules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• Voice-based assistant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Long-term goal:</a:t>
            </a:r>
          </a:p>
          <a:p>
            <a:pPr>
              <a:spcAft>
                <a:spcPts val="400"/>
              </a:spcAft>
              <a:defRPr sz="1250">
                <a:solidFill>
                  <a:srgbClr val="18372D"/>
                </a:solidFill>
              </a:defRPr>
            </a:pPr>
            <a:r>
              <a:t>Make correct waste segregation simple, explainable and accessible.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962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7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0372C"/>
                </a:solidFill>
                <a:latin typeface="Aptos"/>
              </a:rPr>
              <a:t>11. 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5C6F65"/>
                </a:solidFill>
                <a:latin typeface="Aptos"/>
              </a:rPr>
              <a:t>Project source code and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057400"/>
            <a:ext cx="10241280" cy="2743200"/>
          </a:xfrm>
          <a:prstGeom prst="roundRect">
            <a:avLst/>
          </a:prstGeom>
          <a:solidFill>
            <a:srgbClr val="EBF6EF"/>
          </a:solidFill>
          <a:ln>
            <a:solidFill>
              <a:srgbClr val="27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28741" y="2435870"/>
            <a:ext cx="61853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rgbClr val="188448"/>
                </a:solidFill>
              </a:rPr>
              <a:t>Municipal Waste Management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108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20372C"/>
                </a:solidFill>
                <a:latin typeface="Aptos"/>
              </a:rPr>
              <a:t>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703320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dirty="0">
                <a:solidFill>
                  <a:srgbClr val="5C6F65"/>
                </a:solidFill>
                <a:latin typeface="Aptos"/>
              </a:rPr>
              <a:t>Paste your GitHub repository link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9443" y="4160520"/>
            <a:ext cx="645074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1500" dirty="0">
                <a:solidFill>
                  <a:srgbClr val="277A4F"/>
                </a:solidFill>
                <a:latin typeface="Aptos"/>
              </a:rPr>
              <a:t>https://github.com/demohit37-jpg/Municipal-Waste-Management-Assistant</a:t>
            </a:r>
            <a:endParaRPr sz="1500" b="0" dirty="0">
              <a:solidFill>
                <a:srgbClr val="277A4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5C6F65"/>
                </a:solidFill>
                <a:latin typeface="Aptos"/>
              </a:rPr>
              <a:t>Project: Municipal Waste Management Assistant • AI-Based Waste Segregation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2636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F6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27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8929" y="1815084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 dirty="0">
                <a:solidFill>
                  <a:srgbClr val="277A4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2173" y="2801259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dirty="0">
                <a:solidFill>
                  <a:srgbClr val="20372C"/>
                </a:solidFill>
                <a:latin typeface="Aptos"/>
              </a:rPr>
              <a:t>Making correct waste segregation simple, explainable and accessible.</a:t>
            </a:r>
          </a:p>
        </p:txBody>
      </p:sp>
      <p:sp>
        <p:nvSpPr>
          <p:cNvPr id="5" name="Oval 4"/>
          <p:cNvSpPr/>
          <p:nvPr/>
        </p:nvSpPr>
        <p:spPr>
          <a:xfrm>
            <a:off x="5257800" y="3706760"/>
            <a:ext cx="914400" cy="963563"/>
          </a:xfrm>
          <a:prstGeom prst="ellipse">
            <a:avLst/>
          </a:prstGeom>
          <a:solidFill>
            <a:srgbClr val="EBF6EF"/>
          </a:solidFill>
          <a:ln>
            <a:solidFill>
              <a:srgbClr val="27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57800" y="3911620"/>
            <a:ext cx="91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77A4F"/>
                </a:solidFill>
                <a:latin typeface="Aptos"/>
              </a:rPr>
              <a:t>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2636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C6F6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842</Words>
  <Application>Microsoft Office PowerPoint</Application>
  <PresentationFormat>Widescreen</PresentationFormat>
  <Paragraphs>199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Mohit De</dc:creator>
  <cp:lastModifiedBy>MOHIT DE</cp:lastModifiedBy>
  <cp:revision>5</cp:revision>
  <dcterms:modified xsi:type="dcterms:W3CDTF">2026-09-18T19:03:48Z</dcterms:modified>
</cp:coreProperties>
</file>